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332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 e-Granting สสส.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ระบบสารสนเทศสนับสนุนโครงการภาคีเครือข่าย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ข้อสอบตำแหน่ง PM IT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1. OVERVIEW (ภาพรวมระบบ)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วัตถุประสงค์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บริหารจัดการโครงการครบวงจร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พัฒนาข้อเสนอ → อนุมัติ → เบิกจ่าย → ปิดโครงการ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ข้อมูลโครงการ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ระยะเวลา: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9-12 เดือน
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งบประมาณ: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15-25 ล้านบาท
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วิธีการ: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Agile methodology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ผู้ใช้งานหลัก (5 กลุ่ม)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63040"/>
          <a:ext cx="4114800" cy="22860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กลุ่มผู้ใช้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บทบาทหลัก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ภาคีเครือข่าย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ยื่นข้อเสนอ, ขอเบิก, ส่งรายงาน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นักวิชาการ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คัดกรอง, กลั่นกรอง, ตรวจสอบ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ผู้อนุมัติ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อนุมัติโครงการ, อนุมัติเบิก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ศูนย์สัญญา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จัดทำสัญญา, อนุมัติปิด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ฝ่ายกฎหมาย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ให้คำปรึกษา, พิจารณายกเลิก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B8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AGILE METHODOLOGY (วิธีการพัฒนา)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8B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Sprint Cycle (2-4 สัปดาห์)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005840" cy="1005840"/>
          </a:xfrm>
          <a:prstGeom prst="ellipse">
            <a:avLst/>
          </a:prstGeom>
          <a:solidFill>
            <a:srgbClr val="DBEEF4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วางแผน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783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554480" y="1463040"/>
            <a:ext cx="1005840" cy="1005840"/>
          </a:xfrm>
          <a:prstGeom prst="ellipse">
            <a:avLst/>
          </a:prstGeom>
          <a:solidFill>
            <a:srgbClr val="E2EFD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16916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1965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พัฒนา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1783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651760" y="1463040"/>
            <a:ext cx="1005840" cy="1005840"/>
          </a:xfrm>
          <a:prstGeom prst="ellipse">
            <a:avLst/>
          </a:prstGeom>
          <a:solidFill>
            <a:srgbClr val="FFF2CC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6916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1965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ทดสอบ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1783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749040" y="1463040"/>
            <a:ext cx="1005840" cy="1005840"/>
          </a:xfrm>
          <a:prstGeom prst="ellipse">
            <a:avLst/>
          </a:prstGeom>
          <a:solidFill>
            <a:srgbClr val="FCE4D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6916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1965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ตรวจสอบ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8B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Agile Principles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29200" y="13716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1. Iterative Development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  พัฒนาทีละส่วน ส่งมอบเป็นระยะ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2. Customer Collaboration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  ทำงานร่วมกับผู้ใช้ รับ Feedback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3. Responding to Change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  ปรับเปลี่ยนได้ตาม Requirement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4. Working Software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  เน้นส่งมอบระบบที่ใช้งานได้จริง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8B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Timeline โครงการ (9-12 เดือน)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128016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463040"/>
                <a:gridCol w="1463040"/>
                <a:gridCol w="1463040"/>
                <a:gridCol w="128016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Phase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Sprint 1-2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Sprint 3-4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Sprint 5-6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Sprint 7-8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Sprint 9+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8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Focus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MVP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ข้อเสนอ+คัดกรอง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อนุมัติ+สัญญา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เบิกจ่าย+ส่งงาน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ปิดโครงการ+รายงาน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Integration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GFMIS/e-GP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Deliverable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Working System v1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Contract Module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Payment System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Full System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Go-Live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2. WORKFLOW (กระบวนการทำงาน)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DBEE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Phase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พัฒนาข้อเสนอ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371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377440" y="11887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Phase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อนุมัติโครงการ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1371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80560" y="11887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Phase 3-4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ดำเนินการ+เบิกจ่าย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371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583680" y="11887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CE4D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Phase 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ปิดโครงการ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Phase 1: พัฒนาข้อเสนอ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26060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ภาคียื่นข้อเสนอผ่านระบบ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คัดกรองขั้นต้น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ส่งกลับแก้ไขหากไม่ผ่าน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2286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Phase 2: อนุมัติโครงการ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26060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กลั่นกรองวิชาการ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ผู้บริหารอนุมัติ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ทำสัญญา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Phase 3-4: ดำเนินการและเบิกจ่าย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37947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ขอเบิกเงินงวด + ส่งรายงาน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นักวิชาการตรวจสอบ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ผู้อนุมัติพิจารณาเบิก (วนซ้ำ)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Phase 5: ปิดโครงการ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54880" y="37947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ส่งรายงานสรุป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ตรวจครุภัณฑ์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อนุมัติปิดโครงการ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3. KEY MODULES (โมดูลหลัก)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6576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548640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#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โมดูล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ฟังก์ชันหลัก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ข้อเสนอโครงการ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สร้าง/แก้ไข/ยื่น, แนบไฟล์, งบประมาณ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คัดกรอง/กลั่นกรอง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ตรวจคุณสมบัติ, ความเห็น, กำหนดงวด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อนุมัติโครงการ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พิจารณา, บันทึกเงื่อนไข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4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สัญญา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ตรวจเอกสาร, ลงนามอิเล็กทรอนิกส์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เบิกจ่าย/ส่งงาน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ขอเบิกงวด, รายงาน, หลักฐาน, อนุมัติ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6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ปิดโครงการ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รายงานสรุป, ตรวจครุภัณฑ์, อนุมัติปิด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7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Dashboard/KPI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สถานะ, งบประมาณ, แจ้งเตือน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8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รายงาน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Export Excel/PDF, สถิติภาพรวม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4. DATA ENTITIES (โครงสร้างข้อมูล)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DBEEF4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Project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(โครงการ)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0" y="11887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E2EFDA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325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User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(ผู้ใช้)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11887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FFF2C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325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Contract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(สัญญา)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Milestone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(งวดงาน)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03120" y="256032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Payment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(การเบิก)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657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Document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(เอกสาร)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0" y="256032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Role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(บทบาท)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148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468880" y="2148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3200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246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97680" y="2148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N:1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0" y="1417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1417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←→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Entity Relationships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2651760"/>
          <a:ext cx="3657600" cy="201168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Entity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Relationships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Project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1:N → Milestone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1:N → Payment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1:N → Document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N:M → User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User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N:1 → Role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Contract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1:1 → Project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5. RBAC (สิทธิ์การเข้าถึง)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✓ = เข้าถึงได้  |  ○ = ดูอย่างเดียว  |  - = ไม่มีสิทธิ์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บทบาท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ข้อเสนอ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คัดกรอง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อนุมัติ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สัญญา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เบิกจ่าย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ปิดโครงการ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ภาคี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70AD47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D7D3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D7D3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70AD47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70AD47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70AD47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นักวิชาการ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70AD47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70AD47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D7D3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D7D3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70AD47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70AD47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ผู้อนุมัติ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D7D3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D7D3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70AD47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70AD47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70AD47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D7D3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ศูนย์สัญญา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70AD47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70AD47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กฎหมาย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D7D3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D7D3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D7D3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D7D3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D7D3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70AD47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6. ARCHITECTURE (สถาปัตยกรรม)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0" cy="640080"/>
          </a:xfrm>
          <a:prstGeom prst="roundRect">
            <a:avLst>
              <a:gd name="adj" fmla="val 7143"/>
            </a:avLst>
          </a:prstGeom>
          <a:solidFill>
            <a:srgbClr val="DBEE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Layer 1: 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Web Application (React/Vue)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572000" cy="640080"/>
          </a:xfrm>
          <a:prstGeom prst="roundRect">
            <a:avLst>
              <a:gd name="adj" fmla="val 7143"/>
            </a:avLst>
          </a:prstGeom>
          <a:solidFill>
            <a:srgbClr val="E2EF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Layer 2: API Gateway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Authentication, Rate Limiting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572000" cy="640080"/>
          </a:xfrm>
          <a:prstGeom prst="roundRect">
            <a:avLst>
              <a:gd name="adj" fmla="val 7143"/>
            </a:avLst>
          </a:prstGeom>
          <a:solidFill>
            <a:srgbClr val="FFF2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06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Layer 3: Business Logic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Proposal, Approval, Payment, Report Services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4572000" cy="640080"/>
          </a:xfrm>
          <a:prstGeom prst="roundRect">
            <a:avLst>
              <a:gd name="adj" fmla="val 7143"/>
            </a:avLst>
          </a:prstGeom>
          <a:solidFill>
            <a:srgbClr val="FCE4D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37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Layer 4: 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PostgreSQL + S3/MinIO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4572000" cy="640080"/>
          </a:xfrm>
          <a:prstGeom prst="roundRect">
            <a:avLst>
              <a:gd name="adj" fmla="val 7143"/>
            </a:avLst>
          </a:prstGeom>
          <a:solidFill>
            <a:srgbClr val="E6E0E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69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Layer 5: Integration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3434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GFMIS, e-GP, SSO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030A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External Systems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03520" y="15544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GFMIS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ระบบบริหารการเงินการคลังภาครัฐ
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e-GP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ระบบจัดซื้อจัดจ้างภาครัฐ
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SSO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Single Sign-On Authentication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7. KPI &amp; METRICS (ตัวชี้วัดความสำเร็จ)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Process KPIs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1148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ตัวชี้วัด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เป้าหมาย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Time to Approve (ข้อเสนอ)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≤ 30 วัน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Time to Pay (เบิกจ่าย)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≤ 15 วัน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Document Processing Time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≤ 5 วันทำการ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First-time Approval Rate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≥ 70%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System KPIs</a:t>
            </a:r>
            <a:endParaRPr lang="en-US" sz="20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41148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ตัวชี้วัด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เป้าหมาย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System Uptime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≥ 99.5%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Response Time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≤ 3 วินาที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User Satisfaction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≥ 4.0/5.0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Bug/Defect Rate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≤ 5 ต่อ Sprint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Business KPIs</a:t>
            </a:r>
            <a:endParaRPr lang="en-US" sz="20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49040"/>
          <a:ext cx="8229600" cy="128016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41148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ตัวชี้วัด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เป้าหมาย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วิธีวัด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Paper Reduction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≥ 80%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เปรียบเทียบเอกสารก่อน-หลัง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User Adoption Rate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≥ 90%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จำนวนผู้ใช้งานจริง / ผู้ใช้ทั้งหมด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Process Automation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≥ 60%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ขั้นตอนอัตโนมัติ / ขั้นตอนทั้งหมด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Cost Savings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≥ 20%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ต้นทุนดำเนินการก่อน-หลัง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8. IMPLEMENTATION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เดือน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005840"/>
            <a:ext cx="594360" cy="36576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051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1005840"/>
            <a:ext cx="594360" cy="36576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1051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005840"/>
            <a:ext cx="594360" cy="36576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051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594360" cy="36576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051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1005840"/>
            <a:ext cx="594360" cy="36576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1051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594360" cy="36576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051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12080" y="1005840"/>
            <a:ext cx="594360" cy="36576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1051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52160" y="1005840"/>
            <a:ext cx="594360" cy="36576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1051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1005840"/>
            <a:ext cx="594360" cy="36576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051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0" y="1005840"/>
            <a:ext cx="594360" cy="36576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1051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0" y="1005840"/>
            <a:ext cx="594360" cy="36576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1051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0" y="1005840"/>
            <a:ext cx="594360" cy="36576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1051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Phase 1: Requirements &amp; Design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371600" y="16002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DBEEF4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103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Phase 2: MVP Development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11680" y="214884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E2EFD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651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Phase 3: Core Modules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269748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FFF2CC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Phase 4: Integration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12080" y="324612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CE4D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749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Phase 5: UAT &amp; Training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92240" y="379476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E6E0EC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297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Phase 6: Go-Live &amp; Support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72400" y="43434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C8E6C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77B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Key Milestones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74320" y="49834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▲ M1: MVP Ready (เดือน 3)    ▲ M2: Core Complete (เดือน 6)    ▲ M3: UAT Sign-off (เดือน 10)    ▲ M4: Go-Live (เดือน 12)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9. RISKS &amp; MITIGATION (ความเสี่ยง)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484632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ความเสี่ยง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ระดับ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แนวทางแก้ไข (Mitigation)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User Adoption ต่ำ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สูง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อบรมผู้ใช้, User Manual, Help Desk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Integration ล้มเหลว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สูง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PoC ก่อน, Testing กับ GFMIS/e-GP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Security/PDPA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D7D3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ปานกลาง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Security Audit, Encryption, MFA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Timeline ล่าช้า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D7D3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ปานกลาง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Agile Sprint, Weekly review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Budget เกิน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0AD47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ต่ำ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Phased approach, MVP first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10. SUCCESS FACTORS (ปัจจัยสำเร็จ)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2EF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User-Friendly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UI/UX ใช้งานง่าย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ลดภาระเอกสาร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Mobile responsive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118872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DBEE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Transparency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0604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Real-time tracking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Notification อัตโนมัติ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Audit trail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2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Automation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06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Auto-notification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Auto-calculation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Workflow engine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0" y="118872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CE4D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Security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9516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PDPA compliance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MFA authentication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• Data encryption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ขอบคุณ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 e-Granting สสส.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ผู้จัดทำ: _________________ | วันที่: _________________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ระบบ e-Granting สสส.</dc:title>
  <dc:subject>PptxGenJS Presentation</dc:subject>
  <dc:creator>PM IT</dc:creator>
  <cp:lastModifiedBy>PM IT</cp:lastModifiedBy>
  <cp:revision>1</cp:revision>
  <dcterms:created xsi:type="dcterms:W3CDTF">2026-01-30T06:45:11Z</dcterms:created>
  <dcterms:modified xsi:type="dcterms:W3CDTF">2026-01-30T06:45:11Z</dcterms:modified>
</cp:coreProperties>
</file>